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59" r:id="rId6"/>
    <p:sldId id="257" r:id="rId7"/>
    <p:sldId id="25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6B4302-FE9B-4BB6-BA85-CEAD6995A62D}" v="41" dt="2026-06-05T14:00:57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7FB1C-5995-48F2-9A6A-E16D06155E38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2C965-5AC0-415E-A2EF-8B539CFEB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78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근린공원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최소 면적 </a:t>
            </a:r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10,000㎡(1만㎡) 이상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이기 때문에 소형은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10000m^2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미만</a:t>
            </a:r>
            <a:endParaRPr lang="ko-KR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2C965-5AC0-415E-A2EF-8B539CFEB38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569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EBB10-D8FC-81A4-B5C0-183CCCDFC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484E27-E21F-C0F0-43DC-DECB0F246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5988A7-7755-9EEF-DB4B-32FB2EF18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1D6D-822E-4C9A-A9D4-8DD882568F97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6C28E5-EB81-0A04-6EC2-BD604855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48E562-5E6A-3A8C-7CAA-2CE295090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E0DA-F94E-4687-8BFC-8671467FFA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64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3B178-F4F0-FC70-AEE0-052AC1B30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B5264F-465F-4ABF-4458-5C90E2622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8D58A0-07A0-4EA4-4222-E88B3B06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D48C1-D0F9-4223-A5B1-34AE1D55BADD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2A30B-8A50-2FC8-4DDF-400F4B14A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3A0FB0-FB79-3CA6-74FF-0CD27870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32D414-F75A-4E62-993B-55823BD6B94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6513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42746A-3274-8482-1319-F27815BA5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E2A6BA-47E3-9F33-E645-C37D8F33D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22149-994F-9E71-16B1-6245393C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B7845-08BA-4D78-8B5E-D1BFD962E781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CCF4EB-4B8B-8257-8009-C711E64A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60E202-5766-C273-3BE8-C1A49650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E0DA-F94E-4687-8BFC-8671467FFA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33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7DF2BD-CD85-4331-BC08-BCA51ED68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0D046C-2CFD-97FA-5C63-99A4D48975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AC2BA6-1F22-F550-471C-A73F73852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E897DE-CE3D-2894-5AD1-E16402035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2426-FF2D-4A73-90B6-28D508221981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D29E3-A194-DF72-32C3-537D30C99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6E6C45-D131-1BDA-2F74-66820A3D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E0DA-F94E-4687-8BFC-8671467FFA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04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432C7-9BC0-5B96-AD55-349FAAF2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D09510-456C-B4BD-AB57-93B115C13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FD3AB3-7D61-601A-F45E-E344846CC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F906E0-5199-1F8E-057C-A2F255A159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7A1C6A-D3DF-F984-CF17-9EEB01555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DE6589D-7165-B27D-B48E-14BBD2D2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8056-ADB2-4FA2-8F53-A176D72990A6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A3EFB8-B153-312B-6F85-50AA01543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6257F3-E5C4-92D2-00CD-E4973C0E8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E0DA-F94E-4687-8BFC-8671467FFA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435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B6502-4666-EC8A-6777-2E8B5224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430D44-01A7-EF0E-F20A-B8E1D2876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3CE9-26C3-4F6F-888C-595B562CE1E0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CB82A0-731B-45BF-482D-6768B29C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B97FF0-C0CA-07C2-F296-24F8338E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E0DA-F94E-4687-8BFC-8671467FFA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41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28F8A21-D84B-CA7A-82A9-C31C27544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FD15-E4CA-4BF8-B879-7547285F410C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698610-55D2-3BE7-C4FC-43F561FD4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893323-D4A0-1380-0FBF-7559FEAE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E0DA-F94E-4687-8BFC-8671467FFA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256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81001-7668-156F-4496-85B385066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639148-598A-602C-7489-3BADD869E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F26DE2-C1A0-C077-187A-5E6F0486B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F8E434-C925-DB22-E924-0C17F1649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70CB-9891-43E4-BE4C-50F22669EF4B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304767-BCCE-6678-E28F-806FF7B7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A2FBF1-26CF-FDBF-4635-EDCD39AF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E0DA-F94E-4687-8BFC-8671467FFA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266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D3FA21-851B-4538-D2D1-924F7AE3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5B5217-DCA3-3958-EABE-B43AEA1B2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F4D412-8805-8A4B-5649-144BCB09F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00CE58-06B4-7C8E-0D8C-32592FEBE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3300-F170-4747-AA26-265BFB3F3A37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496693-9E39-1914-84A5-58A39E6F1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A646A0-1F78-E3E8-A635-730DF552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E0DA-F94E-4687-8BFC-8671467FFA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58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893D8-1900-3664-478F-68B02D5F6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E5E058-C467-0CD2-62B6-C4D6BDB3B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9D64F4-77C0-BC26-4A10-3BC057653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96B71-2E26-4FFF-91BD-71DB06277CD2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099EC-914B-E3AA-6CDB-4506053F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15766-C98B-E3E4-4766-C70557CD5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E0DA-F94E-4687-8BFC-8671467FFA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30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AE51EC5-4434-471F-0C3A-96897254C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0C7758-0EF4-E653-B0BB-BD93C296E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E7AFED-FAA6-8DAB-DB30-E59D2029F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96E8-94D8-441E-8D68-862238FFFB59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55D80C-A6BB-4498-12D8-E554D8FF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427CB0-57EB-958F-6DDC-900E488C8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E0DA-F94E-4687-8BFC-8671467FFA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198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7E0D6E-59AD-48F0-4710-3AC0FCEE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331D61-7E27-6BBB-DE22-5BF980B5E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8A9557-F2DA-CFDC-C3B3-B54711A897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68140C-32BC-423A-8C3B-BB149BD6BB56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B3FA3C-FAAB-DA94-4F22-1D1F93EC6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AE10E7-B461-523E-11EC-90486329F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4E0DA-F94E-4687-8BFC-8671467FFA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076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ta.go.kr/data/15012890/standard.d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D42BA-4E2E-1680-9BA9-3281D3F8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5586"/>
            <a:ext cx="9144000" cy="2474377"/>
          </a:xfrm>
        </p:spPr>
        <p:txBody>
          <a:bodyPr>
            <a:normAutofit/>
          </a:bodyPr>
          <a:lstStyle/>
          <a:p>
            <a:r>
              <a:rPr lang="ko-KR" altLang="ko-KR" sz="4400" dirty="0"/>
              <a:t>순천시 도시 공원의 면적이 주변 지역의 온도 감소에 미치는 영향 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62ED50-8181-67F2-C8AE-FB48FB9D2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20244418 </a:t>
            </a:r>
            <a:r>
              <a:rPr lang="ko-KR" altLang="en-US" dirty="0"/>
              <a:t>인공지능공학부 차호진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9F841E-FD07-075C-CA93-95717D812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E0DA-F94E-4687-8BFC-8671467FFAC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848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4AF01-D9F7-ACFF-366C-3227E80C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2C7E30-4E6A-F427-E693-BC59ADAD8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ko-KR" dirty="0"/>
              <a:t>도시 </a:t>
            </a:r>
            <a:r>
              <a:rPr lang="ko-KR" altLang="ko-KR" dirty="0" err="1"/>
              <a:t>열섬을</a:t>
            </a:r>
            <a:r>
              <a:rPr lang="ko-KR" altLang="ko-KR" dirty="0"/>
              <a:t> 완화하는 </a:t>
            </a:r>
            <a:r>
              <a:rPr lang="ko-KR" altLang="en-US" dirty="0" err="1"/>
              <a:t>방법중</a:t>
            </a:r>
            <a:r>
              <a:rPr lang="ko-KR" altLang="en-US" dirty="0"/>
              <a:t> 하나로 </a:t>
            </a:r>
            <a:r>
              <a:rPr lang="ko-KR" altLang="ko-KR" b="1" dirty="0"/>
              <a:t>도시 공원 조성</a:t>
            </a:r>
            <a:r>
              <a:rPr lang="ko-KR" altLang="ko-KR" dirty="0"/>
              <a:t>이</a:t>
            </a:r>
            <a:r>
              <a:rPr lang="en-US" altLang="ko-KR" dirty="0"/>
              <a:t> </a:t>
            </a:r>
            <a:r>
              <a:rPr lang="ko-KR" altLang="ko-KR" dirty="0"/>
              <a:t>언급</a:t>
            </a:r>
            <a:r>
              <a:rPr lang="ko-KR" altLang="en-US" dirty="0"/>
              <a:t>된다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나무가 그늘을 만들고, 잎에서 수분을 증발시켜 주변 온도를 낮춘다는 </a:t>
            </a:r>
            <a:r>
              <a:rPr lang="ko-KR" altLang="en-US" dirty="0"/>
              <a:t>이유이다</a:t>
            </a:r>
            <a:r>
              <a:rPr lang="en-US" altLang="ko-KR" dirty="0"/>
              <a:t>.</a:t>
            </a:r>
          </a:p>
          <a:p>
            <a:r>
              <a:rPr lang="ko-KR" altLang="ko-KR" dirty="0"/>
              <a:t>실제로 많은 지자체가 이를 근거로 공원을 만</a:t>
            </a:r>
            <a:r>
              <a:rPr lang="ko-KR" altLang="en-US" dirty="0"/>
              <a:t>든다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이를 바탕으로 위성 데이터를 활용하여 정량 분석을 </a:t>
            </a:r>
            <a:r>
              <a:rPr lang="ko-KR" altLang="en-US" dirty="0" err="1"/>
              <a:t>진행하고자한다</a:t>
            </a:r>
            <a:r>
              <a:rPr lang="en-US" altLang="ko-KR" dirty="0"/>
              <a:t>.</a:t>
            </a:r>
            <a:endParaRPr lang="ko-KR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4ED967-7547-523A-0EC9-BD8BCC35E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D414-F75A-4E62-993B-55823BD6B940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531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408980-B6E6-9F68-BB66-9F73C740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준비 및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33665B-56B4-BD26-36AE-5EE1691DE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대상 지역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	</a:t>
            </a:r>
            <a:r>
              <a:rPr lang="ko-KR" altLang="en-US" dirty="0"/>
              <a:t>전라남도 순천시 전체 도시공원 </a:t>
            </a:r>
            <a:r>
              <a:rPr lang="en-US" altLang="ko-KR" dirty="0"/>
              <a:t>(</a:t>
            </a:r>
            <a:r>
              <a:rPr lang="ko-KR" altLang="en-US" dirty="0"/>
              <a:t>순천만 국가정원을 포함한 </a:t>
            </a:r>
            <a:r>
              <a:rPr lang="en-US" altLang="ko-KR" dirty="0"/>
              <a:t>	161</a:t>
            </a:r>
            <a:r>
              <a:rPr lang="ko-KR" altLang="en-US" dirty="0"/>
              <a:t>개소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데이터 추출</a:t>
            </a:r>
            <a:r>
              <a:rPr lang="en-US" altLang="ko-KR" dirty="0"/>
              <a:t>: 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 err="1"/>
              <a:t>전국도시공원정보표준데이터</a:t>
            </a:r>
            <a:r>
              <a:rPr lang="ko-KR" altLang="en-US" dirty="0"/>
              <a:t> 순천시 공원 데이터</a:t>
            </a:r>
            <a:br>
              <a:rPr lang="en-US" altLang="ko-KR" dirty="0"/>
            </a:br>
            <a:r>
              <a:rPr lang="en-US" altLang="ko-KR" dirty="0"/>
              <a:t>	Google Earth Engine(GEE)</a:t>
            </a:r>
            <a:r>
              <a:rPr lang="ko-KR" altLang="en-US" dirty="0"/>
              <a:t>을 통한 위성 </a:t>
            </a:r>
            <a:r>
              <a:rPr lang="en-US" altLang="ko-KR" dirty="0"/>
              <a:t>LST(</a:t>
            </a:r>
            <a:r>
              <a:rPr lang="ko-KR" altLang="en-US" dirty="0"/>
              <a:t>지표면온도</a:t>
            </a:r>
            <a:r>
              <a:rPr lang="en-US" altLang="ko-KR" dirty="0"/>
              <a:t>) </a:t>
            </a:r>
            <a:r>
              <a:rPr lang="ko-KR" altLang="en-US" dirty="0"/>
              <a:t>및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NDVI(</a:t>
            </a:r>
            <a:r>
              <a:rPr lang="ko-KR" altLang="en-US" dirty="0"/>
              <a:t>식생지수</a:t>
            </a:r>
            <a:r>
              <a:rPr lang="en-US" altLang="ko-KR" dirty="0"/>
              <a:t>) </a:t>
            </a:r>
            <a:r>
              <a:rPr lang="ko-KR" altLang="en-US" dirty="0"/>
              <a:t>데이터 추출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공원 중심지에서 경계로부터의 거리별</a:t>
            </a:r>
            <a:r>
              <a:rPr lang="en-US" altLang="ko-KR" dirty="0"/>
              <a:t>(~300M)</a:t>
            </a:r>
            <a:r>
              <a:rPr lang="ko-KR" altLang="en-US" dirty="0"/>
              <a:t> 버퍼</a:t>
            </a:r>
            <a:r>
              <a:rPr lang="en-US" altLang="ko-KR" dirty="0"/>
              <a:t>(Buffer) 	</a:t>
            </a:r>
            <a:r>
              <a:rPr lang="ko-KR" altLang="en-US" dirty="0"/>
              <a:t>온도분석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5A166F-9121-ABE8-ADF8-BE2D5F863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D414-F75A-4E62-993B-55823BD6B940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870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2EF0CF-9AC5-3CD7-0FD2-D42F5D50C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추출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644CB0-20AE-3051-58F3-06AC3E185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Google Earth Engine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	GEE</a:t>
            </a:r>
            <a:r>
              <a:rPr lang="ko-KR" altLang="en-US" dirty="0"/>
              <a:t>를 통해 </a:t>
            </a:r>
            <a:r>
              <a:rPr lang="en-US" altLang="ko-KR" dirty="0"/>
              <a:t>2023~2024</a:t>
            </a:r>
            <a:r>
              <a:rPr lang="ko-KR" altLang="en-US" dirty="0"/>
              <a:t>년 여름철</a:t>
            </a:r>
            <a:r>
              <a:rPr lang="en-US" altLang="ko-KR" dirty="0"/>
              <a:t>(6~8</a:t>
            </a:r>
            <a:r>
              <a:rPr lang="ko-KR" altLang="en-US" dirty="0"/>
              <a:t>월</a:t>
            </a:r>
            <a:r>
              <a:rPr lang="en-US" altLang="ko-KR" dirty="0"/>
              <a:t>) </a:t>
            </a:r>
            <a:br>
              <a:rPr lang="en-US" altLang="ko-KR" dirty="0"/>
            </a:br>
            <a:r>
              <a:rPr lang="en-US" altLang="ko-KR" dirty="0"/>
              <a:t>	Landsat 8 </a:t>
            </a:r>
            <a:r>
              <a:rPr lang="ko-KR" altLang="en-US" dirty="0"/>
              <a:t>위성 영상에서 구름을 제거한</a:t>
            </a:r>
            <a:r>
              <a:rPr lang="en-US" altLang="ko-KR" dirty="0"/>
              <a:t> </a:t>
            </a:r>
            <a:r>
              <a:rPr lang="ko-KR" altLang="en-US" dirty="0"/>
              <a:t>평균 온도 지도</a:t>
            </a:r>
            <a:r>
              <a:rPr lang="en-US" altLang="ko-KR" dirty="0"/>
              <a:t>	(LST)</a:t>
            </a:r>
            <a:r>
              <a:rPr lang="ko-KR" altLang="en-US" dirty="0"/>
              <a:t>를 추출</a:t>
            </a:r>
            <a:r>
              <a:rPr lang="en-US" altLang="ko-KR" dirty="0"/>
              <a:t>, </a:t>
            </a:r>
            <a:r>
              <a:rPr lang="ko-KR" altLang="en-US" dirty="0"/>
              <a:t>공원별 버퍼</a:t>
            </a:r>
            <a:r>
              <a:rPr lang="en-US" altLang="ko-KR" dirty="0"/>
              <a:t>(50m~500m) </a:t>
            </a:r>
            <a:r>
              <a:rPr lang="ko-KR" altLang="en-US" dirty="0"/>
              <a:t>구역의 평균 온도 </a:t>
            </a:r>
            <a:r>
              <a:rPr lang="en-US" altLang="ko-KR" dirty="0"/>
              <a:t>	</a:t>
            </a:r>
            <a:r>
              <a:rPr lang="ko-KR" altLang="en-US" dirty="0"/>
              <a:t>집계</a:t>
            </a:r>
            <a:br>
              <a:rPr lang="en-US" altLang="ko-KR" dirty="0"/>
            </a:br>
            <a:r>
              <a:rPr lang="en-US" altLang="ko-KR" dirty="0"/>
              <a:t>	</a:t>
            </a:r>
            <a:r>
              <a:rPr lang="ko-KR" altLang="en-US" dirty="0"/>
              <a:t>지도 시각화 레이어를 위해 식생지수 </a:t>
            </a:r>
            <a:r>
              <a:rPr lang="en-US" altLang="ko-KR" dirty="0"/>
              <a:t>(NDVI)</a:t>
            </a:r>
            <a:r>
              <a:rPr lang="ko-KR" altLang="en-US" dirty="0"/>
              <a:t>를 계산 </a:t>
            </a:r>
            <a:br>
              <a:rPr lang="en-US" altLang="ko-KR" dirty="0"/>
            </a:br>
            <a:r>
              <a:rPr lang="en-US" altLang="ko-KR" dirty="0"/>
              <a:t>	</a:t>
            </a:r>
            <a:r>
              <a:rPr lang="ko-KR" altLang="en-US" dirty="0"/>
              <a:t>공원 중심부를 초록점으로 표시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72F7A8-E040-25D4-8FC9-09D9685A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D414-F75A-4E62-993B-55823BD6B940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4298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F7FC7-2E59-987C-1954-463D964F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260E855-B208-F4FF-E867-B2FCF4A17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68" y="365125"/>
            <a:ext cx="7427976" cy="5752259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A461ED-47F1-5737-2B0E-820A0F81E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D414-F75A-4E62-993B-55823BD6B940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7B4A25-CEF3-7B10-DC2D-A846D74142E8}"/>
              </a:ext>
            </a:extLst>
          </p:cNvPr>
          <p:cNvSpPr txBox="1"/>
          <p:nvPr/>
        </p:nvSpPr>
        <p:spPr>
          <a:xfrm>
            <a:off x="8138160" y="1992029"/>
            <a:ext cx="32156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녹색 점/도형</a:t>
            </a:r>
            <a:r>
              <a:rPr lang="ko-KR" altLang="ko-KR" dirty="0"/>
              <a:t>: </a:t>
            </a:r>
            <a:r>
              <a:rPr lang="ko-KR" altLang="ko-KR" b="1" dirty="0"/>
              <a:t>순천시 도시공원 위치</a:t>
            </a:r>
            <a:r>
              <a:rPr lang="ko-KR" altLang="ko-KR" dirty="0"/>
              <a:t> </a:t>
            </a:r>
          </a:p>
          <a:p>
            <a:r>
              <a:rPr lang="ko-KR" altLang="ko-KR" b="1" dirty="0"/>
              <a:t>짙은 녹색 지역</a:t>
            </a:r>
            <a:r>
              <a:rPr lang="ko-KR" altLang="ko-KR" dirty="0"/>
              <a:t>: </a:t>
            </a:r>
            <a:r>
              <a:rPr lang="ko-KR" altLang="ko-KR" b="1" dirty="0"/>
              <a:t>울창한 식생 영역</a:t>
            </a:r>
            <a:r>
              <a:rPr lang="ko-KR" altLang="ko-KR" dirty="0"/>
              <a:t> (산림, 공원 내부의 나무, 잔디밭 등)</a:t>
            </a:r>
          </a:p>
          <a:p>
            <a:r>
              <a:rPr lang="ko-KR" altLang="ko-KR" b="1" dirty="0"/>
              <a:t>노란색 지역</a:t>
            </a:r>
            <a:r>
              <a:rPr lang="ko-KR" altLang="ko-KR" dirty="0"/>
              <a:t>: </a:t>
            </a:r>
            <a:r>
              <a:rPr lang="ko-KR" altLang="ko-KR" b="1" dirty="0"/>
              <a:t>식생 밀도가 낮은 완충 지역</a:t>
            </a:r>
            <a:r>
              <a:rPr lang="ko-KR" altLang="ko-KR" dirty="0"/>
              <a:t> (잡초 지대, 농경지 등)</a:t>
            </a:r>
          </a:p>
          <a:p>
            <a:r>
              <a:rPr lang="ko-KR" altLang="ko-KR" b="1" dirty="0"/>
              <a:t>하얀색 / 밝은 회색 지역</a:t>
            </a:r>
            <a:r>
              <a:rPr lang="ko-KR" altLang="ko-KR" dirty="0"/>
              <a:t>: </a:t>
            </a:r>
            <a:r>
              <a:rPr lang="ko-KR" altLang="ko-KR" b="1" dirty="0"/>
              <a:t>인공 피복 지역 (건물, 아스팔트 도로 등 도심지)</a:t>
            </a:r>
            <a:endParaRPr lang="ko-KR" altLang="ko-KR" dirty="0"/>
          </a:p>
          <a:p>
            <a:r>
              <a:rPr lang="ko-KR" altLang="ko-KR" b="1" dirty="0"/>
              <a:t>아주 밝은 흰색 (또는 배경색)</a:t>
            </a:r>
            <a:r>
              <a:rPr lang="ko-KR" altLang="ko-KR" dirty="0"/>
              <a:t>: </a:t>
            </a:r>
            <a:r>
              <a:rPr lang="ko-KR" altLang="ko-KR" b="1" dirty="0"/>
              <a:t>수계 (동천, 순천만 바다)</a:t>
            </a:r>
            <a:endParaRPr lang="ko-KR" altLang="ko-KR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1BE7DCA-06E1-E231-62A8-44A6307A9EDD}"/>
              </a:ext>
            </a:extLst>
          </p:cNvPr>
          <p:cNvSpPr/>
          <p:nvPr/>
        </p:nvSpPr>
        <p:spPr>
          <a:xfrm>
            <a:off x="3052549" y="1690687"/>
            <a:ext cx="3043451" cy="296319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38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8BD68-A20E-39D3-9057-C642D3488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 및 시각화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1961AA-B68F-8531-6279-4F4AD4E5C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GEE</a:t>
            </a:r>
            <a:r>
              <a:rPr lang="ko-KR" altLang="en-US" dirty="0"/>
              <a:t>에서 추출된 </a:t>
            </a:r>
            <a:r>
              <a:rPr lang="en-US" altLang="ko-KR" dirty="0"/>
              <a:t>csv </a:t>
            </a:r>
            <a:r>
              <a:rPr lang="ko-KR" altLang="en-US" dirty="0"/>
              <a:t>데이터를 공원 면적과 열 완화 효과 간의 관계 시각화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1. </a:t>
            </a:r>
            <a:r>
              <a:rPr lang="ko-KR" altLang="en-US" dirty="0"/>
              <a:t>순천시 도시공원 면적에 따른 열 완화 효과 </a:t>
            </a:r>
            <a:r>
              <a:rPr lang="en-US" altLang="ko-KR" dirty="0"/>
              <a:t>(300m)</a:t>
            </a:r>
          </a:p>
          <a:p>
            <a:pPr marL="0" indent="0">
              <a:buNone/>
            </a:pPr>
            <a:r>
              <a:rPr lang="en-US" altLang="ko-KR" dirty="0"/>
              <a:t> 2. </a:t>
            </a:r>
            <a:r>
              <a:rPr lang="ko-KR" altLang="en-US" dirty="0"/>
              <a:t>거리별 온도 분포 변화 </a:t>
            </a:r>
            <a:r>
              <a:rPr lang="en-US" altLang="ko-KR" dirty="0"/>
              <a:t>(</a:t>
            </a:r>
            <a:r>
              <a:rPr lang="ko-KR" altLang="en-US" dirty="0"/>
              <a:t>소형과</a:t>
            </a:r>
            <a:r>
              <a:rPr lang="en-US" altLang="ko-KR" dirty="0"/>
              <a:t> </a:t>
            </a:r>
            <a:r>
              <a:rPr lang="ko-KR" altLang="en-US" dirty="0"/>
              <a:t>중대형 공원 비교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1C1D60-1CB8-35DA-E9C8-AE9AF6B7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D414-F75A-4E62-993B-55823BD6B940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4107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B8947-3EED-04FC-7A47-67CBC2B19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순천시 도시공원 면적에 따른 열 완화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44365E-017E-AE8F-5CA4-E7673D41E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D414-F75A-4E62-993B-55823BD6B940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B250E48E-1A1C-841E-5EAB-397AA829A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7252230" cy="43513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A50BE3-AB3F-5E66-FD53-8B15A4FE97D5}"/>
              </a:ext>
            </a:extLst>
          </p:cNvPr>
          <p:cNvSpPr txBox="1"/>
          <p:nvPr/>
        </p:nvSpPr>
        <p:spPr>
          <a:xfrm>
            <a:off x="6967728" y="1847088"/>
            <a:ext cx="45537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최소자승법</a:t>
            </a:r>
            <a:r>
              <a:rPr lang="en-US" altLang="ko-KR" dirty="0"/>
              <a:t>(</a:t>
            </a:r>
            <a:r>
              <a:rPr lang="ko-KR" altLang="en-US" dirty="0" err="1"/>
              <a:t>제곱합</a:t>
            </a:r>
            <a:r>
              <a:rPr lang="ko-KR" altLang="en-US" dirty="0"/>
              <a:t> 최소화</a:t>
            </a:r>
            <a:r>
              <a:rPr lang="en-US" altLang="ko-KR" dirty="0"/>
              <a:t>)</a:t>
            </a:r>
            <a:r>
              <a:rPr lang="ko-KR" altLang="en-US" dirty="0"/>
              <a:t>을 통한 붉은 선</a:t>
            </a:r>
            <a:endParaRPr lang="en-US" altLang="ko-KR" dirty="0"/>
          </a:p>
          <a:p>
            <a:r>
              <a:rPr lang="ko-KR" altLang="en-US" dirty="0"/>
              <a:t>을 따라 </a:t>
            </a:r>
            <a:r>
              <a:rPr lang="ko-KR" altLang="en-US" dirty="0" err="1"/>
              <a:t>우상향하는</a:t>
            </a:r>
            <a:r>
              <a:rPr lang="ko-KR" altLang="en-US" dirty="0"/>
              <a:t> 선형 그래프 형성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공원 면적이 넓을수록 주변 온도를 더 많이 </a:t>
            </a:r>
            <a:r>
              <a:rPr lang="ko-KR" altLang="en-US" dirty="0" err="1"/>
              <a:t>낮춰준다라는</a:t>
            </a:r>
            <a:r>
              <a:rPr lang="ko-KR" altLang="en-US" dirty="0"/>
              <a:t> 결과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임계점 </a:t>
            </a:r>
            <a:r>
              <a:rPr lang="en-US" altLang="ko-KR" dirty="0"/>
              <a:t>: 4.0 </a:t>
            </a:r>
            <a:r>
              <a:rPr lang="ko-KR" altLang="en-US" dirty="0"/>
              <a:t>을 넘는 공원부터 냉각 효과가 안정적으로 나타남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같은 면적이라도 나무가 많은 공원과 </a:t>
            </a:r>
            <a:endParaRPr lang="en-US" altLang="ko-KR" dirty="0"/>
          </a:p>
          <a:p>
            <a:r>
              <a:rPr lang="ko-KR" altLang="en-US" dirty="0"/>
              <a:t>포장 시설 위주 공원은 냉각 효과가 다름</a:t>
            </a:r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ko-KR" altLang="en-US" dirty="0" err="1"/>
              <a:t>산점도</a:t>
            </a:r>
            <a:r>
              <a:rPr lang="ko-KR" altLang="en-US" dirty="0"/>
              <a:t> 분산이 크게 보인다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F17D22B6-5B97-4574-B23D-C81ACDE2577A}"/>
              </a:ext>
            </a:extLst>
          </p:cNvPr>
          <p:cNvSpPr/>
          <p:nvPr/>
        </p:nvSpPr>
        <p:spPr>
          <a:xfrm rot="14232835">
            <a:off x="5474483" y="3934026"/>
            <a:ext cx="544141" cy="1355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23F370-A156-70BF-1D61-9FCE4C97120B}"/>
              </a:ext>
            </a:extLst>
          </p:cNvPr>
          <p:cNvSpPr txBox="1"/>
          <p:nvPr/>
        </p:nvSpPr>
        <p:spPr>
          <a:xfrm>
            <a:off x="5079978" y="4267200"/>
            <a:ext cx="1671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95% </a:t>
            </a:r>
            <a:r>
              <a:rPr lang="ko-KR" altLang="en-US" sz="1600" dirty="0"/>
              <a:t>신뢰구간</a:t>
            </a:r>
          </a:p>
        </p:txBody>
      </p:sp>
    </p:spTree>
    <p:extLst>
      <p:ext uri="{BB962C8B-B14F-4D97-AF65-F5344CB8AC3E}">
        <p14:creationId xmlns:p14="http://schemas.microsoft.com/office/powerpoint/2010/main" val="1459590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4B08A1-9CD4-158B-16EE-21C3C8CD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순천시 도시공원 면적에 따른 열 완화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931F550-2294-7F28-1659-D87E93B29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7252230" cy="4351338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44E1F3-76CC-7D60-7A44-973FDA50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D414-F75A-4E62-993B-55823BD6B940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EC6B4-2F7B-D6DB-82B4-435A9B458E23}"/>
              </a:ext>
            </a:extLst>
          </p:cNvPr>
          <p:cNvSpPr txBox="1"/>
          <p:nvPr/>
        </p:nvSpPr>
        <p:spPr>
          <a:xfrm>
            <a:off x="6882063" y="1828800"/>
            <a:ext cx="50893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소규모 공원 면적의 한계 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만</a:t>
            </a:r>
            <a:r>
              <a:rPr lang="en-US" altLang="ko-KR" dirty="0"/>
              <a:t>m</a:t>
            </a:r>
            <a:r>
              <a:rPr lang="en-US" altLang="ko-KR" baseline="30000" dirty="0"/>
              <a:t>^2</a:t>
            </a:r>
            <a:r>
              <a:rPr lang="en-US" altLang="ko-KR" dirty="0"/>
              <a:t> </a:t>
            </a:r>
            <a:r>
              <a:rPr lang="ko-KR" altLang="en-US" dirty="0"/>
              <a:t>미만의 소규모 공원은 나무 그늘이 차지하는 면적이 너무 좁고</a:t>
            </a:r>
            <a:r>
              <a:rPr lang="en-US" altLang="ko-KR" dirty="0"/>
              <a:t>, </a:t>
            </a:r>
            <a:r>
              <a:rPr lang="ko-KR" altLang="en-US" dirty="0"/>
              <a:t>바닥에 </a:t>
            </a:r>
            <a:endParaRPr lang="en-US" altLang="ko-KR" dirty="0"/>
          </a:p>
          <a:p>
            <a:pPr lvl="1"/>
            <a:r>
              <a:rPr lang="ko-KR" altLang="en-US" dirty="0"/>
              <a:t>고무매트나 모래 등으로 열을 강하게 </a:t>
            </a:r>
            <a:endParaRPr lang="en-US" altLang="ko-KR" dirty="0"/>
          </a:p>
          <a:p>
            <a:pPr lvl="1"/>
            <a:r>
              <a:rPr lang="ko-KR" altLang="en-US" dirty="0"/>
              <a:t>식히지 못함</a:t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열적 포화</a:t>
            </a:r>
            <a:r>
              <a:rPr lang="en-US" altLang="ko-KR" dirty="0"/>
              <a:t>(Thermal Dilution)</a:t>
            </a:r>
            <a:r>
              <a:rPr lang="ko-KR" altLang="en-US" dirty="0"/>
              <a:t>으로 인해 </a:t>
            </a:r>
            <a:endParaRPr lang="en-US" altLang="ko-KR" dirty="0"/>
          </a:p>
          <a:p>
            <a:r>
              <a:rPr lang="ko-KR" altLang="en-US" dirty="0"/>
              <a:t>    거대한 도심 열기에 찬 공기가 희석 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12757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26654-26F3-8A70-1F25-89D68BE3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거리별 온도 분포 변화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BEBD2CE-9AF9-B77E-92BE-89684CB72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9829"/>
            <a:ext cx="11135032" cy="4849359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E5C5D5-C5B2-044C-AEB2-EAA1474CB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D414-F75A-4E62-993B-55823BD6B940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164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DD6C02-DF1E-74E8-A85C-704E8D6F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A5E869-8D3F-DB8D-4430-25B60CB8B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r>
              <a:rPr lang="ko-KR" altLang="en-US" sz="3600" b="1" dirty="0"/>
              <a:t>온도 역전 현상 발견</a:t>
            </a:r>
            <a:endParaRPr lang="en-US" altLang="ko-KR" sz="3600" b="1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거리별 온도 그래프에서 소형 공원은 공원 내부 온도가 </a:t>
            </a:r>
            <a:br>
              <a:rPr lang="en-US" altLang="ko-KR" dirty="0"/>
            </a:br>
            <a:r>
              <a:rPr lang="en-US" altLang="ko-KR" dirty="0"/>
              <a:t>	</a:t>
            </a:r>
            <a:r>
              <a:rPr lang="ko-KR" altLang="en-US" dirty="0"/>
              <a:t>주변</a:t>
            </a:r>
            <a:r>
              <a:rPr lang="en-US" altLang="ko-KR" dirty="0"/>
              <a:t> </a:t>
            </a:r>
            <a:r>
              <a:rPr lang="ko-KR" altLang="en-US" dirty="0"/>
              <a:t>도심지 온도보다 </a:t>
            </a:r>
            <a:r>
              <a:rPr lang="ko-KR" altLang="en-US" b="1" dirty="0"/>
              <a:t>오히려 높게 나타나는 </a:t>
            </a:r>
            <a:r>
              <a:rPr lang="ko-KR" altLang="en-US" dirty="0"/>
              <a:t>온도 역전 </a:t>
            </a:r>
            <a:br>
              <a:rPr lang="en-US" altLang="ko-KR" dirty="0"/>
            </a:br>
            <a:r>
              <a:rPr lang="en-US" altLang="ko-KR" dirty="0"/>
              <a:t>	</a:t>
            </a:r>
            <a:r>
              <a:rPr lang="ko-KR" altLang="en-US" dirty="0"/>
              <a:t>현상 관측</a:t>
            </a:r>
            <a:endParaRPr lang="en-US" altLang="ko-KR" dirty="0"/>
          </a:p>
          <a:p>
            <a:r>
              <a:rPr lang="ko-KR" altLang="en-US" sz="3600" b="1" dirty="0"/>
              <a:t>도시 </a:t>
            </a:r>
            <a:r>
              <a:rPr lang="ko-KR" altLang="en-US" sz="3600" b="1" dirty="0" err="1"/>
              <a:t>열섬</a:t>
            </a:r>
            <a:r>
              <a:rPr lang="ko-KR" altLang="en-US" sz="3600" b="1" dirty="0"/>
              <a:t> 완화 기여 부족</a:t>
            </a:r>
            <a:endParaRPr lang="en-US" altLang="ko-KR" sz="3600" b="1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소형 어린이 공원이 한여름에 도심 속 </a:t>
            </a:r>
            <a:r>
              <a:rPr lang="ko-KR" altLang="en-US" dirty="0" err="1">
                <a:solidFill>
                  <a:srgbClr val="FF0000"/>
                </a:solidFill>
              </a:rPr>
              <a:t>미세열섬</a:t>
            </a:r>
            <a:r>
              <a:rPr lang="ko-KR" altLang="en-US" dirty="0" err="1"/>
              <a:t>으로</a:t>
            </a:r>
            <a:r>
              <a:rPr lang="ko-KR" altLang="en-US" dirty="0"/>
              <a:t> 작동</a:t>
            </a:r>
            <a:endParaRPr lang="en-US" altLang="ko-KR" dirty="0"/>
          </a:p>
          <a:p>
            <a:r>
              <a:rPr lang="ko-KR" altLang="en-US" sz="3600" b="1" dirty="0"/>
              <a:t>공원의 질적 설계로의 전환</a:t>
            </a:r>
            <a:endParaRPr lang="en-US" altLang="ko-KR" sz="3600" b="1" dirty="0"/>
          </a:p>
          <a:p>
            <a:pPr marL="0" indent="0">
              <a:buNone/>
            </a:pPr>
            <a:r>
              <a:rPr lang="en-US" altLang="ko-KR" sz="3600" dirty="0"/>
              <a:t>	</a:t>
            </a:r>
            <a:r>
              <a:rPr lang="ko-KR" altLang="en-US" dirty="0"/>
              <a:t>지자체는 나무 밀도를 높여 실질적인 그늘을 </a:t>
            </a:r>
            <a:r>
              <a:rPr lang="en-US" altLang="ko-KR" dirty="0"/>
              <a:t>	</a:t>
            </a:r>
            <a:r>
              <a:rPr lang="ko-KR" altLang="en-US" dirty="0"/>
              <a:t>제공하는    </a:t>
            </a:r>
            <a:r>
              <a:rPr lang="en-US" altLang="ko-KR" dirty="0"/>
              <a:t>	</a:t>
            </a:r>
            <a:r>
              <a:rPr lang="ko-KR" altLang="en-US" dirty="0"/>
              <a:t>질적 조경 설계로 예산 집행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F10ABC-06E9-C1BE-B33D-2B871DA94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D414-F75A-4E62-993B-55823BD6B94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4993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F1CBE-C933-EA57-EAF8-EF412D1EF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서비스 및 모델 제안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317CAA-EBA5-2B85-41B5-AE2C59233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기반 도시 녹지 최적 설계 및 </a:t>
            </a:r>
            <a:r>
              <a:rPr lang="ko-KR" altLang="en-US" dirty="0" err="1"/>
              <a:t>열섬</a:t>
            </a:r>
            <a:r>
              <a:rPr lang="ko-KR" altLang="en-US" dirty="0"/>
              <a:t> 예측 플랫폼</a:t>
            </a:r>
            <a:r>
              <a:rPr lang="en-US" altLang="ko-KR" dirty="0"/>
              <a:t>:</a:t>
            </a:r>
          </a:p>
          <a:p>
            <a:pPr marL="457200" lvl="1" indent="0">
              <a:buNone/>
            </a:pPr>
            <a:r>
              <a:rPr lang="ko-KR" altLang="en-US" dirty="0"/>
              <a:t>사후 통계 분석을 통해</a:t>
            </a:r>
            <a:r>
              <a:rPr lang="en-US" altLang="ko-KR" dirty="0"/>
              <a:t>, </a:t>
            </a:r>
            <a:r>
              <a:rPr lang="ko-KR" altLang="en-US" dirty="0"/>
              <a:t>도시 계획 단계에서 공원의 면적</a:t>
            </a:r>
            <a:r>
              <a:rPr lang="en-US" altLang="ko-KR" dirty="0"/>
              <a:t>, </a:t>
            </a:r>
            <a:r>
              <a:rPr lang="ko-KR" altLang="en-US" dirty="0"/>
              <a:t>위치 형태를  사전에 시뮬레이션하고 </a:t>
            </a:r>
            <a:r>
              <a:rPr lang="ko-KR" altLang="en-US" dirty="0" err="1"/>
              <a:t>열섬</a:t>
            </a:r>
            <a:r>
              <a:rPr lang="ko-KR" altLang="en-US" dirty="0"/>
              <a:t> 완화 효과를 예측하는 의사결정 보조 플랫폼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적용 기술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 err="1"/>
              <a:t>머신러닝</a:t>
            </a:r>
            <a:r>
              <a:rPr lang="ko-KR" altLang="en-US" dirty="0"/>
              <a:t> 기반 미세기후</a:t>
            </a:r>
            <a:r>
              <a:rPr lang="en-US" altLang="ko-KR" dirty="0"/>
              <a:t>(LST) </a:t>
            </a:r>
            <a:r>
              <a:rPr lang="ko-KR" altLang="en-US" dirty="0"/>
              <a:t>예측 모델</a:t>
            </a:r>
            <a:endParaRPr lang="en-US" altLang="ko-KR" dirty="0"/>
          </a:p>
          <a:p>
            <a:pPr lvl="2"/>
            <a:r>
              <a:rPr lang="ko-KR" altLang="en-US" dirty="0"/>
              <a:t>공원이 조성될 예정지의 물리적 특성 데이터를 </a:t>
            </a:r>
            <a:r>
              <a:rPr lang="ko-KR" altLang="en-US" dirty="0" err="1"/>
              <a:t>입력받아</a:t>
            </a:r>
            <a:r>
              <a:rPr lang="ko-KR" altLang="en-US" dirty="0"/>
              <a:t> 주변 온도가 얼마나   하강할지 예측</a:t>
            </a:r>
            <a:r>
              <a:rPr lang="en-US" altLang="ko-KR" dirty="0"/>
              <a:t>, </a:t>
            </a:r>
            <a:r>
              <a:rPr lang="ko-KR" altLang="en-US" dirty="0"/>
              <a:t>어떤 변수가 중요한지 정량적으로 파악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강화학습 및 생성형  </a:t>
            </a:r>
            <a:r>
              <a:rPr lang="en-US" altLang="ko-KR" dirty="0"/>
              <a:t>AI </a:t>
            </a:r>
            <a:r>
              <a:rPr lang="ko-KR" altLang="en-US" dirty="0"/>
              <a:t>기반 공간 최적화</a:t>
            </a:r>
            <a:endParaRPr lang="en-US" altLang="ko-KR" dirty="0"/>
          </a:p>
          <a:p>
            <a:pPr lvl="2"/>
            <a:r>
              <a:rPr lang="ko-KR" altLang="en-US" dirty="0"/>
              <a:t>도시 계획자가 토지 영역을 지정하면</a:t>
            </a:r>
            <a:r>
              <a:rPr lang="en-US" altLang="ko-KR" dirty="0"/>
              <a:t> </a:t>
            </a:r>
            <a:r>
              <a:rPr lang="ko-KR" altLang="en-US" dirty="0" err="1"/>
              <a:t>열섬</a:t>
            </a:r>
            <a:r>
              <a:rPr lang="ko-KR" altLang="en-US" dirty="0"/>
              <a:t> 완화 효과를 최대화 할 수 있는 이상적인 공원 형태와 식생 배치를 자동으로 설계 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4B21EE-37CF-5E04-4760-808AF9BA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D414-F75A-4E62-993B-55823BD6B94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3631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83F19-05AC-3962-89F5-AF8023CC9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기반 미세기후</a:t>
            </a:r>
            <a:r>
              <a:rPr lang="en-US" altLang="ko-KR" dirty="0"/>
              <a:t>(LST) </a:t>
            </a:r>
            <a:r>
              <a:rPr lang="ko-KR" altLang="en-US" dirty="0"/>
              <a:t>예측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1C26C5-51C0-58F4-8AD9-B358AE34C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D414-F75A-4E62-993B-55823BD6B94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89B35E9E-CF55-0A02-A66E-32539B781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79991"/>
            <a:ext cx="10515600" cy="34980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845812-1E7B-F2DE-04AA-94E43656937A}"/>
              </a:ext>
            </a:extLst>
          </p:cNvPr>
          <p:cNvSpPr txBox="1"/>
          <p:nvPr/>
        </p:nvSpPr>
        <p:spPr>
          <a:xfrm>
            <a:off x="973394" y="51780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랜덤 포레스트 기법을 이용하여 분석</a:t>
            </a:r>
            <a:r>
              <a:rPr lang="en-US" altLang="ko-KR" dirty="0"/>
              <a:t>, </a:t>
            </a:r>
            <a:r>
              <a:rPr lang="ko-KR" altLang="en-US" dirty="0"/>
              <a:t>공원이 </a:t>
            </a:r>
            <a:r>
              <a:rPr lang="en-US" altLang="ko-KR" dirty="0"/>
              <a:t>161</a:t>
            </a:r>
            <a:r>
              <a:rPr lang="ko-KR" altLang="en-US" dirty="0"/>
              <a:t>개로 규모가 매우 적은 데이터이기에</a:t>
            </a:r>
            <a:r>
              <a:rPr lang="en-US" altLang="ko-KR" dirty="0"/>
              <a:t>, </a:t>
            </a:r>
            <a:r>
              <a:rPr lang="ko-KR" altLang="en-US" dirty="0"/>
              <a:t>교차 검증을 </a:t>
            </a:r>
            <a:r>
              <a:rPr lang="en-US" altLang="ko-KR" dirty="0"/>
              <a:t>R</a:t>
            </a:r>
            <a:r>
              <a:rPr lang="en-US" altLang="ko-KR" baseline="30000" dirty="0"/>
              <a:t>2</a:t>
            </a:r>
            <a:r>
              <a:rPr lang="ko-KR" altLang="en-US" baseline="30000" dirty="0"/>
              <a:t> </a:t>
            </a:r>
            <a:r>
              <a:rPr lang="ko-KR" altLang="en-US" dirty="0"/>
              <a:t>보완을 위해 추가로 실시</a:t>
            </a:r>
          </a:p>
        </p:txBody>
      </p:sp>
    </p:spTree>
    <p:extLst>
      <p:ext uri="{BB962C8B-B14F-4D97-AF65-F5344CB8AC3E}">
        <p14:creationId xmlns:p14="http://schemas.microsoft.com/office/powerpoint/2010/main" val="2874399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20681-6383-0C77-A6ED-06FBA43AF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향후 개선점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B3586E-BB5A-AA35-596F-47498F058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도시 형태 변수를 추가하여 피처를 추가하여 </a:t>
            </a:r>
            <a:r>
              <a:rPr lang="en-US" altLang="ko-KR" dirty="0"/>
              <a:t>R</a:t>
            </a:r>
            <a:r>
              <a:rPr lang="en-US" altLang="ko-KR" baseline="30000" dirty="0"/>
              <a:t>2</a:t>
            </a:r>
            <a:r>
              <a:rPr lang="ko-KR" altLang="en-US" baseline="30000" dirty="0"/>
              <a:t> </a:t>
            </a:r>
            <a:r>
              <a:rPr lang="ko-KR" altLang="en-US" dirty="0"/>
              <a:t>향상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건물 밀도</a:t>
            </a:r>
            <a:r>
              <a:rPr lang="en-US" altLang="ko-KR" dirty="0"/>
              <a:t>, </a:t>
            </a:r>
            <a:r>
              <a:rPr lang="ko-KR" altLang="en-US" dirty="0"/>
              <a:t>공원 형태</a:t>
            </a:r>
            <a:r>
              <a:rPr lang="en-US" altLang="ko-KR" dirty="0"/>
              <a:t>, </a:t>
            </a:r>
            <a:r>
              <a:rPr lang="ko-KR" altLang="en-US" dirty="0"/>
              <a:t>수계 거리</a:t>
            </a:r>
            <a:r>
              <a:rPr lang="en-US" altLang="ko-KR" dirty="0"/>
              <a:t>( </a:t>
            </a:r>
            <a:r>
              <a:rPr lang="ko-KR" altLang="en-US" dirty="0"/>
              <a:t>하천</a:t>
            </a:r>
            <a:r>
              <a:rPr lang="en-US" altLang="ko-KR" dirty="0"/>
              <a:t>-</a:t>
            </a:r>
            <a:r>
              <a:rPr lang="ko-KR" altLang="en-US" dirty="0"/>
              <a:t>호수까지 최단 거리</a:t>
            </a:r>
            <a:r>
              <a:rPr lang="en-US" altLang="ko-KR" dirty="0"/>
              <a:t>) </a:t>
            </a:r>
            <a:r>
              <a:rPr lang="ko-KR" altLang="en-US" dirty="0"/>
              <a:t>등등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4400" dirty="0">
                <a:latin typeface="+mj-lt"/>
              </a:rPr>
              <a:t>활용 방향</a:t>
            </a:r>
            <a:endParaRPr lang="en-US" altLang="ko-KR" sz="4400" dirty="0">
              <a:latin typeface="+mj-lt"/>
            </a:endParaRP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지자체의 스마트시티 플랫폼 연동</a:t>
            </a:r>
            <a:r>
              <a:rPr lang="en-US" altLang="ko-KR" dirty="0"/>
              <a:t>: </a:t>
            </a:r>
          </a:p>
          <a:p>
            <a:pPr marL="457200" lvl="1" indent="0">
              <a:buNone/>
            </a:pPr>
            <a:r>
              <a:rPr lang="ko-KR" altLang="en-US" dirty="0"/>
              <a:t>공원녹지과 및 도시계획과 공무원들이 도로 개설이나 신도시 개발 시</a:t>
            </a:r>
            <a:r>
              <a:rPr lang="en-US" altLang="ko-KR" dirty="0"/>
              <a:t>, </a:t>
            </a:r>
            <a:r>
              <a:rPr lang="ko-KR" altLang="en-US" dirty="0"/>
              <a:t>어디에 얼마만 한 크기의 공원을 지어야 열을 효과적으로 내릴 수 있는 가에 대한 도구로 사용 활용 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384188-DB3A-BD69-85AA-D68154D0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D414-F75A-4E62-993B-55823BD6B940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4318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34648-25DC-904B-82FE-CD994987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314593-59F3-5EBE-902C-B8C959078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https://www.data.go.kr/data/15012890/standard.do</a:t>
            </a:r>
            <a:endParaRPr lang="en-US" altLang="ko-KR" dirty="0"/>
          </a:p>
          <a:p>
            <a:r>
              <a:rPr lang="en-US" altLang="ko-KR"/>
              <a:t>https://earthengine.google.com/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080E4D-DABF-7501-C364-0C30CC2DE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D414-F75A-4E62-993B-55823BD6B940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3916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E965CD20DBB3642B78CBF7F613EECC7" ma:contentTypeVersion="12" ma:contentTypeDescription="새 문서를 만듭니다." ma:contentTypeScope="" ma:versionID="88161af8d0d0063aac9c33065a0d09f5">
  <xsd:schema xmlns:xsd="http://www.w3.org/2001/XMLSchema" xmlns:xs="http://www.w3.org/2001/XMLSchema" xmlns:p="http://schemas.microsoft.com/office/2006/metadata/properties" xmlns:ns3="17e6be85-1209-4297-ad41-2183fe782495" targetNamespace="http://schemas.microsoft.com/office/2006/metadata/properties" ma:root="true" ma:fieldsID="ced3140046462fa42affd9e645c1b6e4" ns3:_="">
    <xsd:import namespace="17e6be85-1209-4297-ad41-2183fe78249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6be85-1209-4297-ad41-2183fe7824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7e6be85-1209-4297-ad41-2183fe782495" xsi:nil="true"/>
  </documentManagement>
</p:properties>
</file>

<file path=customXml/itemProps1.xml><?xml version="1.0" encoding="utf-8"?>
<ds:datastoreItem xmlns:ds="http://schemas.openxmlformats.org/officeDocument/2006/customXml" ds:itemID="{7FF28A15-4258-4D14-BEC2-6F2E44A9A7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e6be85-1209-4297-ad41-2183fe7824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3524A6-B0CD-406A-AC10-76F3F4B90E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7D0EFE-7B47-4D20-8F5E-9E9883AB6602}">
  <ds:schemaRefs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17e6be85-1209-4297-ad41-2183fe78249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717</Words>
  <Application>Microsoft Office PowerPoint</Application>
  <PresentationFormat>와이드스크린</PresentationFormat>
  <Paragraphs>92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순천시 도시 공원의 면적이 주변 지역의 온도 감소에 미치는 영향 </vt:lpstr>
      <vt:lpstr>PowerPoint 프레젠테이션</vt:lpstr>
      <vt:lpstr>데이터 준비 및 전처리</vt:lpstr>
      <vt:lpstr>데이터 추출</vt:lpstr>
      <vt:lpstr>PowerPoint 프레젠테이션</vt:lpstr>
      <vt:lpstr>데이터 분석 및 시각화</vt:lpstr>
      <vt:lpstr>순천시 도시공원 면적에 따른 열 완화</vt:lpstr>
      <vt:lpstr>순천시 도시공원 면적에 따른 열 완화</vt:lpstr>
      <vt:lpstr>거리별 온도 분포 변화</vt:lpstr>
      <vt:lpstr>데이터 분석 결과</vt:lpstr>
      <vt:lpstr>AI 서비스 및 모델 제안</vt:lpstr>
      <vt:lpstr>머신러닝 기반 미세기후(LST) 예측 모델</vt:lpstr>
      <vt:lpstr>향후 개선점</vt:lpstr>
      <vt:lpstr>출처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차호진</dc:creator>
  <cp:lastModifiedBy>차호진</cp:lastModifiedBy>
  <cp:revision>3</cp:revision>
  <dcterms:created xsi:type="dcterms:W3CDTF">2026-06-05T09:37:15Z</dcterms:created>
  <dcterms:modified xsi:type="dcterms:W3CDTF">2026-06-05T14:08:38Z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0x0101005E965CD20DBB3642B78CBF7F613EECC7</vt:lpwstr>
  </property>
</Properties>
</file>